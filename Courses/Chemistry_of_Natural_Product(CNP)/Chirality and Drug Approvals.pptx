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BC593-348D-481F-8984-F36FB4E0928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9FC7-BD97-4F1C-B519-B9B5E6840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84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BC593-348D-481F-8984-F36FB4E0928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9FC7-BD97-4F1C-B519-B9B5E6840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006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BC593-348D-481F-8984-F36FB4E0928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9FC7-BD97-4F1C-B519-B9B5E6840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3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BC593-348D-481F-8984-F36FB4E0928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9FC7-BD97-4F1C-B519-B9B5E6840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45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BC593-348D-481F-8984-F36FB4E0928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9FC7-BD97-4F1C-B519-B9B5E6840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20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BC593-348D-481F-8984-F36FB4E0928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9FC7-BD97-4F1C-B519-B9B5E6840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935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BC593-348D-481F-8984-F36FB4E0928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9FC7-BD97-4F1C-B519-B9B5E6840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436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BC593-348D-481F-8984-F36FB4E0928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9FC7-BD97-4F1C-B519-B9B5E6840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06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BC593-348D-481F-8984-F36FB4E0928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9FC7-BD97-4F1C-B519-B9B5E6840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05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BC593-348D-481F-8984-F36FB4E0928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9FC7-BD97-4F1C-B519-B9B5E6840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38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BC593-348D-481F-8984-F36FB4E0928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9FC7-BD97-4F1C-B519-B9B5E6840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4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BC593-348D-481F-8984-F36FB4E0928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49FC7-BD97-4F1C-B519-B9B5E6840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29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+mn-lt"/>
              </a:rPr>
              <a:t>Chirality and Drug Approvals</a:t>
            </a:r>
            <a:endParaRPr lang="en-US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8148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599910"/>
              </p:ext>
            </p:extLst>
          </p:nvPr>
        </p:nvGraphicFramePr>
        <p:xfrm>
          <a:off x="685800" y="39253"/>
          <a:ext cx="6923088" cy="6031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CS ChemDraw Drawing" r:id="rId3" imgW="4092839" imgH="3565971" progId="ChemDraw.Document.6.0">
                  <p:embed/>
                </p:oleObj>
              </mc:Choice>
              <mc:Fallback>
                <p:oleObj name="CS ChemDraw Drawing" r:id="rId3" imgW="4092839" imgH="356597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800" y="39253"/>
                        <a:ext cx="6923088" cy="60315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746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458200" cy="5897563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220000"/>
              </a:lnSpc>
            </a:pPr>
            <a:r>
              <a:rPr lang="en-US" dirty="0" err="1" smtClean="0"/>
              <a:t>Enantiomeric</a:t>
            </a:r>
            <a:r>
              <a:rPr lang="en-US" dirty="0" smtClean="0"/>
              <a:t> pairs of chiral drug molecules may be classified using the following three categories:</a:t>
            </a:r>
          </a:p>
          <a:p>
            <a:pPr marL="514350" indent="-514350">
              <a:lnSpc>
                <a:spcPct val="220000"/>
              </a:lnSpc>
              <a:buFont typeface="+mj-lt"/>
              <a:buAutoNum type="arabicPeriod"/>
            </a:pPr>
            <a:r>
              <a:rPr lang="en-US" dirty="0" smtClean="0"/>
              <a:t>One enantiomer is the </a:t>
            </a:r>
            <a:r>
              <a:rPr lang="en-US" dirty="0" err="1" smtClean="0"/>
              <a:t>eutomer</a:t>
            </a:r>
            <a:r>
              <a:rPr lang="en-US" dirty="0" smtClean="0"/>
              <a:t>, the other the </a:t>
            </a:r>
            <a:r>
              <a:rPr lang="en-US" dirty="0" err="1" smtClean="0"/>
              <a:t>distomer</a:t>
            </a:r>
            <a:r>
              <a:rPr lang="en-US" dirty="0" smtClean="0"/>
              <a:t>. This is the most common category.</a:t>
            </a:r>
          </a:p>
          <a:p>
            <a:pPr marL="514350" indent="-514350">
              <a:lnSpc>
                <a:spcPct val="220000"/>
              </a:lnSpc>
              <a:buFont typeface="+mj-lt"/>
              <a:buAutoNum type="arabicPeriod"/>
            </a:pPr>
            <a:r>
              <a:rPr lang="en-US" dirty="0" smtClean="0"/>
              <a:t>The two enantiomers produce the same effect.</a:t>
            </a:r>
          </a:p>
          <a:p>
            <a:pPr marL="514350" indent="-514350">
              <a:lnSpc>
                <a:spcPct val="220000"/>
              </a:lnSpc>
              <a:buFont typeface="+mj-lt"/>
              <a:buAutoNum type="arabicPeriod"/>
            </a:pPr>
            <a:r>
              <a:rPr lang="en-US" dirty="0" smtClean="0"/>
              <a:t>Chiral inversion occurs in vivo. Two types of chiral inversions are possible: unilateral and bilateral.</a:t>
            </a:r>
          </a:p>
          <a:p>
            <a:pPr lvl="1">
              <a:lnSpc>
                <a:spcPct val="220000"/>
              </a:lnSpc>
            </a:pPr>
            <a:r>
              <a:rPr lang="en-US" dirty="0" smtClean="0"/>
              <a:t>Ibuprofen is an example of a drug that undergoes unilateral inversion in vivo while thalidomide undergoes bilateral inversion.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602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+mn-lt"/>
              </a:rPr>
              <a:t>Chirality and Drug Approvals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en-US" dirty="0" smtClean="0"/>
              <a:t>Both EMA and FDA provide guidance on the development of </a:t>
            </a:r>
            <a:r>
              <a:rPr lang="en-US" dirty="0" err="1" smtClean="0"/>
              <a:t>racemates</a:t>
            </a:r>
            <a:r>
              <a:rPr lang="en-US" dirty="0" smtClean="0"/>
              <a:t> and single enantiomers. </a:t>
            </a:r>
          </a:p>
          <a:p>
            <a:pPr>
              <a:lnSpc>
                <a:spcPct val="160000"/>
              </a:lnSpc>
            </a:pPr>
            <a:r>
              <a:rPr lang="en-US" dirty="0" smtClean="0"/>
              <a:t>The EMA provides guidance on the studies that must be carried out on chiral molecules for marketing authorization applications.</a:t>
            </a:r>
          </a:p>
          <a:p>
            <a:pPr>
              <a:lnSpc>
                <a:spcPct val="160000"/>
              </a:lnSpc>
            </a:pPr>
            <a:r>
              <a:rPr lang="en-US" dirty="0" smtClean="0"/>
              <a:t>There are four main general categories of marketing authorization applications for new chiral active substance: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723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33400"/>
            <a:ext cx="8382000" cy="5516563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Where a single enantiomer is developed as a new active substance, clinical and preclinical studies are only required for the </a:t>
            </a:r>
            <a:r>
              <a:rPr lang="en-US" dirty="0" err="1" smtClean="0"/>
              <a:t>eutomer</a:t>
            </a:r>
            <a:r>
              <a:rPr lang="en-US" dirty="0" smtClean="0"/>
              <a:t>.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However, the possibility of the </a:t>
            </a:r>
            <a:r>
              <a:rPr lang="en-US" dirty="0" err="1" smtClean="0"/>
              <a:t>distomer</a:t>
            </a:r>
            <a:r>
              <a:rPr lang="en-US" dirty="0" smtClean="0"/>
              <a:t> being formed in vivo must be investigated. If it is found to be formed in vivo it must be evaluated as a biotransformation product.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18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29400"/>
          </a:xfrm>
        </p:spPr>
        <p:txBody>
          <a:bodyPr>
            <a:noAutofit/>
          </a:bodyPr>
          <a:lstStyle/>
          <a:p>
            <a:endParaRPr lang="en-US" sz="2400" dirty="0" smtClean="0"/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 smtClean="0"/>
              <a:t>Marketing authorization applications for new racemic active substances requires that the choice of the </a:t>
            </a:r>
            <a:r>
              <a:rPr lang="en-US" sz="2400" dirty="0" err="1" smtClean="0"/>
              <a:t>racemate</a:t>
            </a:r>
            <a:r>
              <a:rPr lang="en-US" sz="2400" dirty="0"/>
              <a:t> </a:t>
            </a:r>
            <a:r>
              <a:rPr lang="en-US" sz="2400" dirty="0" smtClean="0"/>
              <a:t>over a single enantiomer be justified. </a:t>
            </a:r>
          </a:p>
          <a:p>
            <a:pPr lvl="1"/>
            <a:r>
              <a:rPr lang="en-US" sz="2000" dirty="0" smtClean="0"/>
              <a:t>In preclinical studies, pharmacodynamics of the </a:t>
            </a:r>
            <a:r>
              <a:rPr lang="en-US" sz="2000" dirty="0" err="1" smtClean="0"/>
              <a:t>racemate</a:t>
            </a:r>
            <a:r>
              <a:rPr lang="en-US" sz="2000" dirty="0" smtClean="0"/>
              <a:t> and each enantiomer must be studied and the effective exposure to each enantiomer must be established. </a:t>
            </a:r>
          </a:p>
          <a:p>
            <a:pPr lvl="1"/>
            <a:r>
              <a:rPr lang="en-US" sz="2000" dirty="0" smtClean="0"/>
              <a:t>Toxicological studies are only required for the </a:t>
            </a:r>
            <a:r>
              <a:rPr lang="en-US" sz="2000" dirty="0" err="1" smtClean="0"/>
              <a:t>racemate</a:t>
            </a:r>
            <a:r>
              <a:rPr lang="en-US" sz="2000" dirty="0" smtClean="0"/>
              <a:t> unless unpredicted effects are observed at low doses, in which case the individual enantiomers must also be studied. </a:t>
            </a:r>
          </a:p>
          <a:p>
            <a:pPr lvl="1"/>
            <a:r>
              <a:rPr lang="en-US" sz="2000" dirty="0" smtClean="0"/>
              <a:t>During clinical testing, </a:t>
            </a:r>
            <a:r>
              <a:rPr lang="en-US" sz="2000" dirty="0" err="1" smtClean="0"/>
              <a:t>pharmacodynamic</a:t>
            </a:r>
            <a:r>
              <a:rPr lang="en-US" sz="2000" dirty="0" smtClean="0"/>
              <a:t> studies are required only on the </a:t>
            </a:r>
            <a:r>
              <a:rPr lang="en-US" sz="2000" dirty="0" err="1" smtClean="0"/>
              <a:t>racemate</a:t>
            </a:r>
            <a:r>
              <a:rPr lang="en-US" sz="2000" dirty="0" smtClean="0"/>
              <a:t> unless there is a safety requirement to study both enantiomers. </a:t>
            </a:r>
          </a:p>
          <a:p>
            <a:pPr lvl="1"/>
            <a:r>
              <a:rPr lang="en-US" sz="2000" dirty="0" smtClean="0"/>
              <a:t>Clinical pharmacokinetic studies must employ </a:t>
            </a:r>
            <a:r>
              <a:rPr lang="en-US" sz="2000" dirty="0" err="1" smtClean="0"/>
              <a:t>enantioselective</a:t>
            </a:r>
            <a:r>
              <a:rPr lang="en-US" sz="2000" dirty="0" smtClean="0"/>
              <a:t> methods unless it has been demonstrated that there is no difference in the fate of the two molecules. </a:t>
            </a:r>
          </a:p>
          <a:p>
            <a:pPr lvl="1"/>
            <a:r>
              <a:rPr lang="en-US" sz="2000" dirty="0" smtClean="0"/>
              <a:t>Clinical </a:t>
            </a:r>
            <a:r>
              <a:rPr lang="en-US" sz="2000" dirty="0" err="1" smtClean="0"/>
              <a:t>pharmacotherapeutic</a:t>
            </a:r>
            <a:r>
              <a:rPr lang="en-US" sz="2000" dirty="0" smtClean="0"/>
              <a:t> studies are carried out on the </a:t>
            </a:r>
            <a:r>
              <a:rPr lang="en-US" sz="2000" dirty="0" err="1" smtClean="0"/>
              <a:t>racemate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07485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533400"/>
            <a:ext cx="8305800" cy="5592763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 startAt="3"/>
            </a:pPr>
            <a:r>
              <a:rPr lang="en-US" dirty="0" smtClean="0"/>
              <a:t>The development of a single enantiomer active substance from a previously approved </a:t>
            </a:r>
            <a:r>
              <a:rPr lang="en-US" dirty="0" err="1" smtClean="0"/>
              <a:t>racemate</a:t>
            </a:r>
            <a:r>
              <a:rPr lang="en-US" dirty="0" smtClean="0"/>
              <a:t> is considered a new application and must be justified. 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However, data generated for the </a:t>
            </a:r>
            <a:r>
              <a:rPr lang="en-US" dirty="0" err="1" smtClean="0"/>
              <a:t>racemate</a:t>
            </a:r>
            <a:r>
              <a:rPr lang="en-US" dirty="0" smtClean="0"/>
              <a:t> may be used as part of the application reducing the number of studies required.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59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382000" cy="5440363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lnSpc>
                <a:spcPct val="220000"/>
              </a:lnSpc>
              <a:buFont typeface="+mj-lt"/>
              <a:buAutoNum type="arabicPeriod" startAt="4"/>
            </a:pPr>
            <a:r>
              <a:rPr lang="en-US" dirty="0" smtClean="0"/>
              <a:t>Development of a </a:t>
            </a:r>
            <a:r>
              <a:rPr lang="en-US" dirty="0" err="1" smtClean="0"/>
              <a:t>racemate</a:t>
            </a:r>
            <a:r>
              <a:rPr lang="en-US" dirty="0" smtClean="0"/>
              <a:t> from a single enantiomer is rare and would require justification.</a:t>
            </a:r>
          </a:p>
          <a:p>
            <a:pPr marL="514350" indent="-514350">
              <a:lnSpc>
                <a:spcPct val="220000"/>
              </a:lnSpc>
              <a:buFont typeface="+mj-lt"/>
              <a:buAutoNum type="arabicPeriod" startAt="4"/>
            </a:pPr>
            <a:r>
              <a:rPr lang="en-US" dirty="0" smtClean="0"/>
              <a:t>Development of a </a:t>
            </a:r>
            <a:r>
              <a:rPr lang="en-US" dirty="0" err="1" smtClean="0"/>
              <a:t>nonracemic</a:t>
            </a:r>
            <a:r>
              <a:rPr lang="en-US" dirty="0"/>
              <a:t> </a:t>
            </a:r>
            <a:r>
              <a:rPr lang="en-US" dirty="0" smtClean="0"/>
              <a:t>mixture from an approved </a:t>
            </a:r>
            <a:r>
              <a:rPr lang="en-US" dirty="0" err="1" smtClean="0"/>
              <a:t>racemate</a:t>
            </a:r>
            <a:r>
              <a:rPr lang="en-US" dirty="0" smtClean="0"/>
              <a:t> or single enantiomer is also mentioned. </a:t>
            </a:r>
          </a:p>
          <a:p>
            <a:pPr lvl="1">
              <a:lnSpc>
                <a:spcPct val="220000"/>
              </a:lnSpc>
            </a:pPr>
            <a:r>
              <a:rPr lang="en-US" dirty="0" smtClean="0"/>
              <a:t>The FDA requires that the decision to develop a drug as a single enantiomer or a </a:t>
            </a:r>
            <a:r>
              <a:rPr lang="en-US" dirty="0" err="1" smtClean="0"/>
              <a:t>racemate</a:t>
            </a:r>
            <a:r>
              <a:rPr lang="en-US" dirty="0" smtClean="0"/>
              <a:t> must be justified in the drug approval application. </a:t>
            </a:r>
          </a:p>
          <a:p>
            <a:pPr lvl="1">
              <a:lnSpc>
                <a:spcPct val="220000"/>
              </a:lnSpc>
            </a:pPr>
            <a:r>
              <a:rPr lang="en-US" dirty="0" smtClean="0"/>
              <a:t>Their guidance states that stereochemistry should be considered as early as possible in drug discovery projects, and data on each enantiomer should be gathered throughout the development process.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858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168683"/>
              </p:ext>
            </p:extLst>
          </p:nvPr>
        </p:nvGraphicFramePr>
        <p:xfrm>
          <a:off x="914400" y="228600"/>
          <a:ext cx="7162800" cy="6356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CS ChemDraw Drawing" r:id="rId3" imgW="4977143" imgH="4416269" progId="ChemDraw.Document.6.0">
                  <p:embed/>
                </p:oleObj>
              </mc:Choice>
              <mc:Fallback>
                <p:oleObj name="CS ChemDraw Drawing" r:id="rId3" imgW="4977143" imgH="441626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228600"/>
                        <a:ext cx="7162800" cy="6356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9273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8686800" cy="5592763"/>
          </a:xfrm>
        </p:spPr>
        <p:txBody>
          <a:bodyPr/>
          <a:lstStyle/>
          <a:p>
            <a:r>
              <a:rPr lang="en-US" b="1" dirty="0" smtClean="0"/>
              <a:t>Misoprostol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03908"/>
              </p:ext>
            </p:extLst>
          </p:nvPr>
        </p:nvGraphicFramePr>
        <p:xfrm>
          <a:off x="689955" y="1676400"/>
          <a:ext cx="4253520" cy="4033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CS ChemDraw Drawing" r:id="rId3" imgW="1811349" imgH="1717187" progId="ChemDraw.Document.6.0">
                  <p:embed/>
                </p:oleObj>
              </mc:Choice>
              <mc:Fallback>
                <p:oleObj name="CS ChemDraw Drawing" r:id="rId3" imgW="1811349" imgH="171718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9955" y="1676400"/>
                        <a:ext cx="4253520" cy="40335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9483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2" y="0"/>
            <a:ext cx="8676968" cy="61261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/>
              <a:t>Ribbon diagram showing binding interaction of misoprostol with amino acid residues in the binding site of 6M9T, prostaglandin E2 receptor EP3 subtype. B) Close-up view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A)                                                  b)</a:t>
            </a:r>
          </a:p>
        </p:txBody>
      </p:sp>
      <p:pic>
        <p:nvPicPr>
          <p:cNvPr id="3076" name="Picture 4" descr="C:\Users\user\Music\dawit\1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83" t="14426" r="23887"/>
          <a:stretch/>
        </p:blipFill>
        <p:spPr bwMode="auto">
          <a:xfrm>
            <a:off x="9832" y="2514600"/>
            <a:ext cx="4122843" cy="3719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:\Users\user\Music\dawit\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675" y="2665624"/>
            <a:ext cx="4639131" cy="254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8387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382000" cy="59737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dirty="0" smtClean="0"/>
              <a:t>A) Ribbon diagram showing binding interaction of misoprostol with amino acid residues in the binding site of 6M9T, prostaglandin E2 receptor EP3 subtype. B)The binding conformation (</a:t>
            </a:r>
            <a:r>
              <a:rPr lang="en-US" sz="1600" dirty="0" err="1" smtClean="0"/>
              <a:t>stereochemical</a:t>
            </a:r>
            <a:r>
              <a:rPr lang="en-US" sz="1600" dirty="0" smtClean="0"/>
              <a:t> shape) of misoprostol </a:t>
            </a:r>
            <a:endParaRPr lang="en-US" dirty="0" smtClean="0"/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a)                                                                                       b)</a:t>
            </a:r>
          </a:p>
          <a:p>
            <a:endParaRPr lang="en-US" dirty="0"/>
          </a:p>
        </p:txBody>
      </p:sp>
      <p:pic>
        <p:nvPicPr>
          <p:cNvPr id="4098" name="Picture 2" descr="C:\Users\user\Music\dawit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67" y="2057400"/>
            <a:ext cx="5012403" cy="2749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user\Music\dawit\4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0" t="10516" r="33006" b="34720"/>
          <a:stretch/>
        </p:blipFill>
        <p:spPr bwMode="auto">
          <a:xfrm>
            <a:off x="5334410" y="2193183"/>
            <a:ext cx="3510116" cy="247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001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530</Words>
  <Application>Microsoft Office PowerPoint</Application>
  <PresentationFormat>On-screen Show (4:3)</PresentationFormat>
  <Paragraphs>31</Paragraphs>
  <Slides>12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Office Theme</vt:lpstr>
      <vt:lpstr>CS ChemDraw Drawing</vt:lpstr>
      <vt:lpstr>Chirality and Drug Approvals</vt:lpstr>
      <vt:lpstr>PowerPoint Presentation</vt:lpstr>
      <vt:lpstr>PowerPoint Presentation</vt:lpstr>
      <vt:lpstr>Chirality and Drug Approvals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11</cp:revision>
  <dcterms:created xsi:type="dcterms:W3CDTF">2025-10-18T15:17:48Z</dcterms:created>
  <dcterms:modified xsi:type="dcterms:W3CDTF">2025-10-18T21:00:25Z</dcterms:modified>
</cp:coreProperties>
</file>